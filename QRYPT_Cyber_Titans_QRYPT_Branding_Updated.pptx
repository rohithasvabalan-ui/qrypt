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YPT: Malicious QR Code Protection Po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E"/>
                </a:solidFill>
                <a:latin typeface="Aptos"/>
              </a:defRPr>
            </a:pPr>
            <a:r>
              <a:t>QRYPT  |  CYBER TITANS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37160"/>
            <a:ext cx="8183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D2B4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C78"/>
                </a:solidFill>
                <a:latin typeface="Aptos"/>
              </a:defRPr>
            </a:pPr>
            <a:r>
              <a:t>A replaced or tampered QR code can redirect users to a fraudulent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Malicious QR Code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90472"/>
            <a:ext cx="64008" cy="1271016"/>
          </a:xfrm>
          <a:prstGeom prst="rect">
            <a:avLst/>
          </a:prstGeom>
          <a:solidFill>
            <a:srgbClr val="BE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8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Fraudsters may place a fake QR sticker over a genuine code on parking meters, posters or payment displays.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173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490472"/>
            <a:ext cx="64008" cy="127101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THE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892808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Users may unknowingly visit phishing pages or enter personal and payment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4173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490472"/>
            <a:ext cx="64008" cy="1271016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892808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A scan can reveal a link, but users may not know whether its destination is trustworthy.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337560"/>
            <a:ext cx="10561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6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566160"/>
            <a:ext cx="10012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9B9E"/>
                </a:solidFill>
                <a:latin typeface="Aptos"/>
              </a:defRPr>
            </a:pPr>
            <a:r>
              <a:t>OUR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2336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2B4C"/>
                </a:solidFill>
                <a:latin typeface="Aptos"/>
              </a:defRPr>
            </a:pPr>
            <a:r>
              <a:t>How might we help users inspect a QR code’s destination before opening the link?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6C78"/>
                </a:solidFill>
                <a:latin typeface="Aptos"/>
              </a:defRPr>
            </a:pPr>
            <a:r>
              <a:t>Target setting: everyday public QR codes and payment-related displays.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clean_modern_high_tech_infographic_poster_in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E"/>
                </a:solidFill>
                <a:latin typeface="Aptos"/>
              </a:defRPr>
            </a:pPr>
            <a:r>
              <a:t>QRYPT  |  CYBER TITANS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37160"/>
            <a:ext cx="8183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D2B4C"/>
                </a:solidFill>
                <a:latin typeface="Aptos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C78"/>
                </a:solidFill>
                <a:latin typeface="Aptos"/>
              </a:defRPr>
            </a:pPr>
            <a:r>
              <a:t>A modular prototype architecture suitable for a student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Malicious QR Code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0848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993392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4C"/>
                </a:solidFill>
                <a:latin typeface="Aptos"/>
              </a:defRPr>
            </a:pPr>
            <a:r>
              <a:t>QR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59152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303A"/>
                </a:solidFill>
                <a:latin typeface="Aptos"/>
              </a:defRPr>
            </a:pPr>
            <a:r>
              <a:t>Camera / image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26771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9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1828800"/>
            <a:ext cx="20848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993392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4C"/>
                </a:solidFill>
                <a:latin typeface="Aptos"/>
              </a:defRPr>
            </a:pPr>
            <a:r>
              <a:t>QR DECODER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359152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303A"/>
                </a:solidFill>
                <a:latin typeface="Aptos"/>
              </a:defRPr>
            </a:pPr>
            <a:r>
              <a:t>Read QR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6771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9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1828800"/>
            <a:ext cx="20848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1993392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4C"/>
                </a:solidFill>
                <a:latin typeface="Aptos"/>
              </a:defRPr>
            </a:pPr>
            <a:r>
              <a:t>URL CHECKER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359152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303A"/>
                </a:solidFill>
                <a:latin typeface="Aptos"/>
              </a:defRPr>
            </a:pPr>
            <a:r>
              <a:t>Inspect link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7" y="226771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9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224" y="1828800"/>
            <a:ext cx="20848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6" y="1993392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4C"/>
                </a:solidFill>
                <a:latin typeface="Aptos"/>
              </a:defRPr>
            </a:pPr>
            <a:r>
              <a:t>RISK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359152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303A"/>
                </a:solidFill>
                <a:latin typeface="Aptos"/>
              </a:defRPr>
            </a:pPr>
            <a:r>
              <a:t>Rules + optional reputation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2056" y="226771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B9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2952" y="1828800"/>
            <a:ext cx="2084831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76104" y="1993392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2B4C"/>
                </a:solidFill>
                <a:latin typeface="Aptos"/>
              </a:defRPr>
            </a:pPr>
            <a:r>
              <a:t>RESULT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359152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3303A"/>
                </a:solidFill>
                <a:latin typeface="Aptos"/>
              </a:defRPr>
            </a:pPr>
            <a:r>
              <a:t>Show status and next steps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703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3776472"/>
            <a:ext cx="64008" cy="117957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813048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FRONT 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78808"/>
            <a:ext cx="31546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HTML • CSS • JavaScript</a:t>
            </a:r>
            <a:br/>
            <a:r>
              <a:t>Mobile-friendly scan and result screens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703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776472"/>
            <a:ext cx="64008" cy="1179576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813048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BACK END (OPTIONAL)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178808"/>
            <a:ext cx="31546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Python Flask or Node.js</a:t>
            </a:r>
            <a:br/>
            <a:r>
              <a:t>Validation and analysis endpoint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703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776472"/>
            <a:ext cx="64008" cy="1179576"/>
          </a:xfrm>
          <a:prstGeom prst="rect">
            <a:avLst/>
          </a:prstGeom>
          <a:solidFill>
            <a:srgbClr val="BE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3813048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178808"/>
            <a:ext cx="31546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Use controlled sample QR images and URLs; record false alerts and missed warnings.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B6C78"/>
                </a:solidFill>
                <a:latin typeface="Aptos"/>
              </a:defRPr>
            </a:pPr>
            <a:r>
              <a:t>Build the decoder and transparent rule checks first; add reputation checks only if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E"/>
                </a:solidFill>
                <a:latin typeface="Aptos"/>
              </a:defRPr>
            </a:pPr>
            <a:r>
              <a:t>QRYPT  |  CYBER TITANS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37160"/>
            <a:ext cx="8183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D2B4C"/>
                </a:solidFill>
                <a:latin typeface="Aptos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C78"/>
                </a:solidFill>
                <a:latin typeface="Aptos"/>
              </a:defRPr>
            </a:pPr>
            <a:r>
              <a:t>A student-friendly minimum viable product with clear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Malicious QR Code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66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90472"/>
            <a:ext cx="64008" cy="1453896"/>
          </a:xfrm>
          <a:prstGeom prst="rect">
            <a:avLst/>
          </a:prstGeom>
          <a:solidFill>
            <a:srgbClr val="1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MVP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• QR image upload</a:t>
            </a:r>
            <a:br/>
            <a:r>
              <a:t>• URL extraction</a:t>
            </a:r>
            <a:br/>
            <a:r>
              <a:t>• Basic URL checks</a:t>
            </a:r>
            <a:br/>
            <a:r>
              <a:t>• Result and warning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17320"/>
            <a:ext cx="3566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490472"/>
            <a:ext cx="64008" cy="145389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89280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• New malicious domains</a:t>
            </a:r>
            <a:br/>
            <a:r>
              <a:t>• False positives / negatives</a:t>
            </a:r>
            <a:br/>
            <a:r>
              <a:t>• Shortened links</a:t>
            </a:r>
            <a:br/>
            <a:r>
              <a:t>• API or network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417320"/>
            <a:ext cx="3566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490472"/>
            <a:ext cx="64008" cy="1453896"/>
          </a:xfrm>
          <a:prstGeom prst="rect">
            <a:avLst/>
          </a:prstGeom>
          <a:solidFill>
            <a:srgbClr val="BE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52704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892808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• Explain warning reasons</a:t>
            </a:r>
            <a:br/>
            <a:r>
              <a:t>• Mark uncertain links Unknown</a:t>
            </a:r>
            <a:br/>
            <a:r>
              <a:t>• Never auto-open links</a:t>
            </a:r>
            <a:br/>
            <a:r>
              <a:t>• Test varied sample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2B4C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4160520"/>
            <a:ext cx="658368" cy="658368"/>
          </a:xfrm>
          <a:prstGeom prst="ellipse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303A"/>
                </a:solidFill>
                <a:latin typeface="Aptos"/>
              </a:defRPr>
            </a:pPr>
            <a:r>
              <a:t>QR 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3708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B9E"/>
                </a:solidFill>
                <a:latin typeface="Aptos"/>
              </a:defRPr>
            </a:pPr>
            <a:r>
              <a:t>──────→</a:t>
            </a:r>
          </a:p>
        </p:txBody>
      </p:sp>
      <p:sp>
        <p:nvSpPr>
          <p:cNvPr id="24" name="Oval 23"/>
          <p:cNvSpPr/>
          <p:nvPr/>
        </p:nvSpPr>
        <p:spPr>
          <a:xfrm>
            <a:off x="3749039" y="4160520"/>
            <a:ext cx="658368" cy="658368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8999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303A"/>
                </a:solidFill>
                <a:latin typeface="Aptos"/>
              </a:defRPr>
            </a:pPr>
            <a:r>
              <a:t>URL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3708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B9E"/>
                </a:solidFill>
                <a:latin typeface="Aptos"/>
              </a:defRPr>
            </a:pPr>
            <a:r>
              <a:t>──────→</a:t>
            </a:r>
          </a:p>
        </p:txBody>
      </p:sp>
      <p:sp>
        <p:nvSpPr>
          <p:cNvPr id="27" name="Oval 26"/>
          <p:cNvSpPr/>
          <p:nvPr/>
        </p:nvSpPr>
        <p:spPr>
          <a:xfrm>
            <a:off x="6537959" y="4160520"/>
            <a:ext cx="658368" cy="658368"/>
          </a:xfrm>
          <a:prstGeom prst="ellipse">
            <a:avLst/>
          </a:prstGeom>
          <a:solidFill>
            <a:srgbClr val="1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303A"/>
                </a:solidFill>
                <a:latin typeface="Aptos"/>
              </a:defRPr>
            </a:pPr>
            <a:r>
              <a:t>UI +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3708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B9E"/>
                </a:solidFill>
                <a:latin typeface="Aptos"/>
              </a:defRPr>
            </a:pPr>
            <a:r>
              <a:t>──────→</a:t>
            </a:r>
          </a:p>
        </p:txBody>
      </p:sp>
      <p:sp>
        <p:nvSpPr>
          <p:cNvPr id="30" name="Oval 29"/>
          <p:cNvSpPr/>
          <p:nvPr/>
        </p:nvSpPr>
        <p:spPr>
          <a:xfrm>
            <a:off x="9326880" y="4160520"/>
            <a:ext cx="658368" cy="658368"/>
          </a:xfrm>
          <a:prstGeom prst="ellipse">
            <a:avLst/>
          </a:prstGeom>
          <a:solidFill>
            <a:srgbClr val="0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303A"/>
                </a:solidFill>
                <a:latin typeface="Aptos"/>
              </a:defRPr>
            </a:pPr>
            <a:r>
              <a:t>Test +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E363F"/>
                </a:solidFill>
                <a:latin typeface="Aptos"/>
              </a:defRPr>
            </a:pPr>
            <a:r>
              <a:t>A risk score is an indicator, not proof that a URL is safe or malicious.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E"/>
                </a:solidFill>
                <a:latin typeface="Aptos"/>
              </a:defRPr>
            </a:pPr>
            <a:r>
              <a:t>QRYPT  |  CYBER TITANS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37160"/>
            <a:ext cx="8183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D2B4C"/>
                </a:solidFill>
                <a:latin typeface="Aptos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C78"/>
                </a:solidFill>
                <a:latin typeface="Aptos"/>
              </a:defRPr>
            </a:pPr>
            <a:r>
              <a:t>Safer everyday QR-code use through clear, user-centred warnings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Malicious QR Code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90472"/>
            <a:ext cx="64008" cy="99669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270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PUBLIC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9280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Understand the destination before opening unexpected QR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90472"/>
            <a:ext cx="64008" cy="996696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270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BUSINESSES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9280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Adds a user-side safety check for codes displayed in public spaces.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432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816352"/>
            <a:ext cx="64008" cy="996696"/>
          </a:xfrm>
          <a:prstGeom prst="rect">
            <a:avLst/>
          </a:prstGeom>
          <a:solidFill>
            <a:srgbClr val="1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5292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COLLEGES &amp;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1868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Demonstrate phishing awareness with safe sample QR codes.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4320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816352"/>
            <a:ext cx="64008" cy="996696"/>
          </a:xfrm>
          <a:prstGeom prst="rect">
            <a:avLst/>
          </a:prstGeom>
          <a:solidFill>
            <a:srgbClr val="BE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5292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CYBER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1868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Encourage users to inspect domains before entering sensitive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2B4C"/>
                </a:solidFill>
                <a:latin typeface="Aptos"/>
              </a:defRPr>
            </a:pPr>
            <a:r>
              <a:t>PROTOTYPE EVALUATION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92040"/>
            <a:ext cx="2606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5010912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B99"/>
                </a:solidFill>
                <a:latin typeface="Aptos"/>
              </a:defRPr>
            </a:pPr>
            <a:r>
              <a:t>Decode success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035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303A"/>
                </a:solidFill>
                <a:latin typeface="Aptos"/>
              </a:defRPr>
            </a:pPr>
            <a:r>
              <a:t>Reads sample QR codes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2040"/>
            <a:ext cx="2606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5010912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B99"/>
                </a:solidFill>
                <a:latin typeface="Aptos"/>
              </a:defRPr>
            </a:pPr>
            <a:r>
              <a:t>Alert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3035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303A"/>
                </a:solidFill>
                <a:latin typeface="Aptos"/>
              </a:defRPr>
            </a:pPr>
            <a:r>
              <a:t>Flags test cases as expected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892040"/>
            <a:ext cx="2606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5010912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B99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53035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303A"/>
                </a:solidFill>
                <a:latin typeface="Aptos"/>
              </a:defRPr>
            </a:pPr>
            <a:r>
              <a:t>Time to show a 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892040"/>
            <a:ext cx="26060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5010912"/>
            <a:ext cx="2459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B99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3035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303A"/>
                </a:solidFill>
                <a:latin typeface="Aptos"/>
              </a:defRPr>
            </a:pPr>
            <a:r>
              <a:t>Users understand warnings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6C78"/>
                </a:solidFill>
                <a:latin typeface="Aptos"/>
              </a:defRPr>
            </a:pPr>
            <a:r>
              <a:t>Expected outcome: a working prototype that supports safer decisions, not a perfect guarantee.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9E"/>
                </a:solidFill>
                <a:latin typeface="Aptos"/>
              </a:defRPr>
            </a:pPr>
            <a:r>
              <a:t>QRYPT  |  CYBER TITANS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37160"/>
            <a:ext cx="8183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0D2B4C"/>
                </a:solidFill>
                <a:latin typeface="Aptos"/>
              </a:defRPr>
            </a:pPr>
            <a:r>
              <a:t>REFERENCES AND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C78"/>
                </a:solidFill>
                <a:latin typeface="Aptos"/>
              </a:defRPr>
            </a:pPr>
            <a:r>
              <a:t>QRYPT is a proposed project prototype in the cybersecurity focus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Malicious QR Code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6539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90472"/>
            <a:ext cx="64008" cy="676656"/>
          </a:xfrm>
          <a:prstGeom prst="rect">
            <a:avLst/>
          </a:prstGeom>
          <a:solidFill>
            <a:srgbClr val="00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27048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URL REPUTATION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92808"/>
            <a:ext cx="10561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A reputable URL reputation service may be evaluated for integration; verify current access terms before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42032"/>
            <a:ext cx="64008" cy="676656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78608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QR DECODING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944368"/>
            <a:ext cx="10561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Use maintained documentation for the selected language and test in a controlled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0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93592"/>
            <a:ext cx="64008" cy="676656"/>
          </a:xfrm>
          <a:prstGeom prst="rect">
            <a:avLst/>
          </a:prstGeom>
          <a:solidFill>
            <a:srgbClr val="1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630168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2B4C"/>
                </a:solidFill>
                <a:latin typeface="Aptos"/>
              </a:defRPr>
            </a:pPr>
            <a:r>
              <a:t>TESTING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95928"/>
            <a:ext cx="10561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303A"/>
                </a:solidFill>
                <a:latin typeface="Aptos"/>
              </a:defRPr>
            </a:pPr>
            <a:r>
              <a:t>Test safe sample URLs, suspicious demo URLs and unknown links without automatically opening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800600"/>
            <a:ext cx="8503920" cy="914400"/>
          </a:xfrm>
          <a:prstGeom prst="roundRect">
            <a:avLst/>
          </a:prstGeom>
          <a:solidFill>
            <a:srgbClr val="0D2B4C"/>
          </a:solidFill>
          <a:ln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965192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6C78"/>
                </a:solidFill>
                <a:latin typeface="Aptos"/>
              </a:defRPr>
            </a:pPr>
            <a:r>
              <a:t>TEAM CYBER TITANS  |  Rithish • Rohith • Bharath • Bhuvan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